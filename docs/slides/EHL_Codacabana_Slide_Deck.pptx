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
  </p:notesMasterIdLst>
  <p:sldIdLst>
    <p:sldId id="256" r:id="rId2"/>
    <p:sldId id="258" r:id="rId3"/>
    <p:sldId id="257" r:id="rId4"/>
  </p:sld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523"/>
    <p:restoredTop sz="94610"/>
  </p:normalViewPr>
  <p:slideViewPr>
    <p:cSldViewPr snapToGrid="0" snapToObjects="1">
      <p:cViewPr varScale="1">
        <p:scale>
          <a:sx n="84" d="100"/>
          <a:sy n="84" d="100"/>
        </p:scale>
        <p:origin x="232" y="3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981122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Spring 2020. The health ministry offers 4.50 euros for every FFP2 mask, from anyone, in any quantity. 5.7 billion masks, 5.9 billion euros. About two billion were ever handed out. Suppliers still claim 2.3 billion in court, and the Federal Court rules on 15 December. Nobody negotiated that price. Our agent would have.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210EFF-B0C7-AF10-B651-029679CA71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8699A4B-8A6D-1FCC-B88A-95C7D1707E4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7B5A37-75D6-504F-073D-024EE466DED1}"/>
              </a:ext>
            </a:extLst>
          </p:cNvPr>
          <p:cNvSpPr>
            <a:spLocks noGrp="1"/>
          </p:cNvSpPr>
          <p:nvPr>
            <p:ph type="body" idx="1"/>
          </p:nvPr>
        </p:nvSpPr>
        <p:spPr/>
        <p:txBody>
          <a:bodyPr/>
          <a:lstStyle/>
          <a:p>
            <a:r>
              <a:rPr lang="en-US" dirty="0"/>
              <a:t>Spring 2020. The health ministry offers 4.50 euros for every FFP2 mask, from anyone, in any quantity. 5.7 billion masks, 5.9 billion euros. About two billion were ever handed out. Suppliers still claim 2.3 billion in court, and the Federal Court rules on 15 December. Nobody negotiated that price. Our agent would have.</a:t>
            </a:r>
          </a:p>
        </p:txBody>
      </p:sp>
      <p:sp>
        <p:nvSpPr>
          <p:cNvPr id="4" name="Slide Number Placeholder 3">
            <a:extLst>
              <a:ext uri="{FF2B5EF4-FFF2-40B4-BE49-F238E27FC236}">
                <a16:creationId xmlns:a16="http://schemas.microsoft.com/office/drawing/2014/main" id="{2D0F131A-1C1F-1758-5F59-5BB29B92A569}"/>
              </a:ext>
            </a:extLst>
          </p:cNvPr>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243618798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minutes of questions. Everything we built is on this slide; leave it up.</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3F2F2"/>
        </a:solidFill>
        <a:effectLst/>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211E1E">
              <a:alpha val="40000"/>
            </a:srgbClr>
          </a:solidFill>
          <a:ln/>
        </p:spPr>
        <p:txBody>
          <a:bodyPr/>
          <a:lstStyle/>
          <a:p>
            <a:endParaRPr lang="en-US" dirty="0"/>
          </a:p>
        </p:txBody>
      </p:sp>
      <p:pic>
        <p:nvPicPr>
          <p:cNvPr id="25" name="Picture 24" descr="Jens Spahn | CDU Nordrhein-Westfalen">
            <a:extLst>
              <a:ext uri="{FF2B5EF4-FFF2-40B4-BE49-F238E27FC236}">
                <a16:creationId xmlns:a16="http://schemas.microsoft.com/office/drawing/2014/main" id="{3DD5B024-FA97-E023-2411-05445BA42D57}"/>
              </a:ext>
            </a:extLst>
          </p:cNvPr>
          <p:cNvPicPr>
            <a:picLocks noChangeAspect="1"/>
          </p:cNvPicPr>
          <p:nvPr/>
        </p:nvPicPr>
        <p:blipFill>
          <a:blip r:embed="rId3"/>
          <a:srcRect l="16317" t="-489" r="13421" b="489"/>
          <a:stretch>
            <a:fillRect/>
          </a:stretch>
        </p:blipFill>
        <p:spPr>
          <a:xfrm>
            <a:off x="10965061" y="-33580"/>
            <a:ext cx="7303889" cy="5847408"/>
          </a:xfrm>
          <a:prstGeom prst="rect">
            <a:avLst/>
          </a:prstGeom>
        </p:spPr>
      </p:pic>
      <p:sp>
        <p:nvSpPr>
          <p:cNvPr id="3" name="Shape 1"/>
          <p:cNvSpPr/>
          <p:nvPr/>
        </p:nvSpPr>
        <p:spPr>
          <a:xfrm>
            <a:off x="0" y="0"/>
            <a:ext cx="10965061" cy="868561"/>
          </a:xfrm>
          <a:prstGeom prst="rect">
            <a:avLst/>
          </a:prstGeom>
          <a:solidFill>
            <a:srgbClr val="F3F2F2"/>
          </a:solidFill>
          <a:ln/>
        </p:spPr>
        <p:txBody>
          <a:bodyPr/>
          <a:lstStyle/>
          <a:p>
            <a:endParaRPr lang="en-US"/>
          </a:p>
        </p:txBody>
      </p:sp>
      <p:sp>
        <p:nvSpPr>
          <p:cNvPr id="4" name="Text 2"/>
          <p:cNvSpPr/>
          <p:nvPr/>
        </p:nvSpPr>
        <p:spPr>
          <a:xfrm>
            <a:off x="533400" y="285750"/>
            <a:ext cx="10888087" cy="335161"/>
          </a:xfrm>
          <a:prstGeom prst="rect">
            <a:avLst/>
          </a:prstGeom>
          <a:noFill/>
          <a:ln/>
        </p:spPr>
        <p:txBody>
          <a:bodyPr wrap="square" lIns="25400" tIns="25400" rIns="25400" bIns="25400" rtlCol="0" anchor="t">
            <a:normAutofit lnSpcReduction="10000"/>
          </a:bodyPr>
          <a:lstStyle/>
          <a:p>
            <a:pPr marL="0" indent="0" algn="l">
              <a:lnSpc>
                <a:spcPct val="100645"/>
              </a:lnSpc>
              <a:buNone/>
            </a:pPr>
            <a:r>
              <a:rPr lang="en-US" sz="1950" b="1" kern="0" spc="156" dirty="0">
                <a:solidFill>
                  <a:srgbClr val="201E1D"/>
                </a:solidFill>
                <a:latin typeface="Arial" pitchFamily="34" charset="0"/>
                <a:ea typeface="Arial" pitchFamily="34" charset="-122"/>
                <a:cs typeface="Arial" pitchFamily="34" charset="-120"/>
              </a:rPr>
              <a:t>GERMANY · FEDERAL MINISTRY OF HEALTH · 2020</a:t>
            </a:r>
            <a:endParaRPr lang="en-US" sz="1950" dirty="0"/>
          </a:p>
        </p:txBody>
      </p:sp>
      <p:sp>
        <p:nvSpPr>
          <p:cNvPr id="5" name="Shape 3"/>
          <p:cNvSpPr/>
          <p:nvPr/>
        </p:nvSpPr>
        <p:spPr>
          <a:xfrm>
            <a:off x="0" y="887611"/>
            <a:ext cx="10965061" cy="4934248"/>
          </a:xfrm>
          <a:prstGeom prst="rect">
            <a:avLst/>
          </a:prstGeom>
          <a:solidFill>
            <a:srgbClr val="F3F2F2"/>
          </a:solidFill>
          <a:ln/>
        </p:spPr>
        <p:txBody>
          <a:bodyPr/>
          <a:lstStyle/>
          <a:p>
            <a:endParaRPr lang="en-US"/>
          </a:p>
        </p:txBody>
      </p:sp>
      <p:sp>
        <p:nvSpPr>
          <p:cNvPr id="6" name="Text 4"/>
          <p:cNvSpPr/>
          <p:nvPr/>
        </p:nvSpPr>
        <p:spPr>
          <a:xfrm>
            <a:off x="533400" y="1535609"/>
            <a:ext cx="10195209" cy="2895600"/>
          </a:xfrm>
          <a:prstGeom prst="rect">
            <a:avLst/>
          </a:prstGeom>
          <a:noFill/>
          <a:ln/>
        </p:spPr>
        <p:txBody>
          <a:bodyPr wrap="square" lIns="25400" tIns="25400" rIns="25400" bIns="25400" rtlCol="0" anchor="t">
            <a:normAutofit lnSpcReduction="10000"/>
          </a:bodyPr>
          <a:lstStyle/>
          <a:p>
            <a:pPr marL="0" indent="0" algn="l">
              <a:lnSpc>
                <a:spcPct val="86957"/>
              </a:lnSpc>
              <a:buNone/>
            </a:pPr>
            <a:r>
              <a:rPr lang="en-US" sz="7500" b="1" kern="0" spc="-150" dirty="0">
                <a:solidFill>
                  <a:srgbClr val="201E1D"/>
                </a:solidFill>
                <a:latin typeface="Arial" pitchFamily="34" charset="0"/>
                <a:ea typeface="Arial" pitchFamily="34" charset="-122"/>
                <a:cs typeface="Arial" pitchFamily="34" charset="-120"/>
              </a:rPr>
              <a:t>€4.50 a mask. From anyone. In any quantity.</a:t>
            </a:r>
            <a:endParaRPr lang="en-US" sz="7500" dirty="0"/>
          </a:p>
        </p:txBody>
      </p:sp>
      <p:sp>
        <p:nvSpPr>
          <p:cNvPr id="7" name="Text 5"/>
          <p:cNvSpPr/>
          <p:nvPr/>
        </p:nvSpPr>
        <p:spPr>
          <a:xfrm>
            <a:off x="533400" y="4659809"/>
            <a:ext cx="9418320" cy="781050"/>
          </a:xfrm>
          <a:prstGeom prst="rect">
            <a:avLst/>
          </a:prstGeom>
          <a:noFill/>
          <a:ln/>
        </p:spPr>
        <p:txBody>
          <a:bodyPr wrap="square" lIns="25400" tIns="25400" rIns="25400" bIns="25400" rtlCol="0" anchor="t">
            <a:normAutofit lnSpcReduction="10000"/>
          </a:bodyPr>
          <a:lstStyle/>
          <a:p>
            <a:pPr marL="0" indent="0" algn="l">
              <a:lnSpc>
                <a:spcPct val="114706"/>
              </a:lnSpc>
              <a:buNone/>
            </a:pPr>
            <a:r>
              <a:rPr lang="en-US" sz="2250" dirty="0">
                <a:solidFill>
                  <a:srgbClr val="605D5D"/>
                </a:solidFill>
                <a:latin typeface="Arial" pitchFamily="34" charset="0"/>
                <a:ea typeface="Arial" pitchFamily="34" charset="-122"/>
                <a:cs typeface="Arial" pitchFamily="34" charset="-120"/>
              </a:rPr>
              <a:t>The ministry promised to buy every FFP2 mask offered to it, at one fixed price.</a:t>
            </a:r>
            <a:endParaRPr lang="en-US" sz="2250" dirty="0"/>
          </a:p>
        </p:txBody>
      </p:sp>
      <p:sp>
        <p:nvSpPr>
          <p:cNvPr id="9" name="Shape 7"/>
          <p:cNvSpPr/>
          <p:nvPr/>
        </p:nvSpPr>
        <p:spPr>
          <a:xfrm>
            <a:off x="0" y="5840909"/>
            <a:ext cx="3642271" cy="2224980"/>
          </a:xfrm>
          <a:prstGeom prst="rect">
            <a:avLst/>
          </a:prstGeom>
          <a:solidFill>
            <a:srgbClr val="F3F2F2"/>
          </a:solidFill>
          <a:ln/>
        </p:spPr>
        <p:txBody>
          <a:bodyPr/>
          <a:lstStyle/>
          <a:p>
            <a:endParaRPr lang="en-US"/>
          </a:p>
        </p:txBody>
      </p:sp>
      <p:sp>
        <p:nvSpPr>
          <p:cNvPr id="10" name="Text 8"/>
          <p:cNvSpPr/>
          <p:nvPr/>
        </p:nvSpPr>
        <p:spPr>
          <a:xfrm>
            <a:off x="381000" y="6183809"/>
            <a:ext cx="3168298" cy="800100"/>
          </a:xfrm>
          <a:prstGeom prst="rect">
            <a:avLst/>
          </a:prstGeom>
          <a:noFill/>
          <a:ln/>
        </p:spPr>
        <p:txBody>
          <a:bodyPr wrap="square" lIns="25400" tIns="25400" rIns="25400" bIns="25400" rtlCol="0" anchor="t">
            <a:normAutofit lnSpcReduction="10000"/>
          </a:bodyPr>
          <a:lstStyle/>
          <a:p>
            <a:pPr marL="0" indent="0" algn="l">
              <a:lnSpc>
                <a:spcPct val="86957"/>
              </a:lnSpc>
              <a:buNone/>
            </a:pPr>
            <a:r>
              <a:rPr lang="en-US" sz="6000" b="1" kern="0" spc="-120" dirty="0">
                <a:solidFill>
                  <a:srgbClr val="201E1D"/>
                </a:solidFill>
                <a:latin typeface="Arial" pitchFamily="34" charset="0"/>
                <a:ea typeface="Arial" pitchFamily="34" charset="-122"/>
                <a:cs typeface="Arial" pitchFamily="34" charset="-120"/>
              </a:rPr>
              <a:t>5.7 bn</a:t>
            </a:r>
            <a:endParaRPr lang="en-US" sz="6000" dirty="0"/>
          </a:p>
        </p:txBody>
      </p:sp>
      <p:sp>
        <p:nvSpPr>
          <p:cNvPr id="11" name="Text 9"/>
          <p:cNvSpPr/>
          <p:nvPr/>
        </p:nvSpPr>
        <p:spPr>
          <a:xfrm>
            <a:off x="381000" y="7079159"/>
            <a:ext cx="3168298" cy="360015"/>
          </a:xfrm>
          <a:prstGeom prst="rect">
            <a:avLst/>
          </a:prstGeom>
          <a:noFill/>
          <a:ln/>
        </p:spPr>
        <p:txBody>
          <a:bodyPr wrap="square" lIns="25400" tIns="25400" rIns="25400" bIns="25400" rtlCol="0" anchor="t">
            <a:normAutofit/>
          </a:bodyPr>
          <a:lstStyle/>
          <a:p>
            <a:pPr marL="0" indent="0" algn="l">
              <a:lnSpc>
                <a:spcPct val="109032"/>
              </a:lnSpc>
              <a:buNone/>
            </a:pPr>
            <a:r>
              <a:rPr lang="en-US" sz="1950" dirty="0">
                <a:solidFill>
                  <a:srgbClr val="201E1D"/>
                </a:solidFill>
                <a:latin typeface="Arial" pitchFamily="34" charset="0"/>
                <a:ea typeface="Arial" pitchFamily="34" charset="-122"/>
                <a:cs typeface="Arial" pitchFamily="34" charset="-120"/>
              </a:rPr>
              <a:t>masks bought, for €5.9 bn</a:t>
            </a:r>
            <a:endParaRPr lang="en-US" sz="1950" dirty="0"/>
          </a:p>
        </p:txBody>
      </p:sp>
      <p:sp>
        <p:nvSpPr>
          <p:cNvPr id="12" name="Shape 10"/>
          <p:cNvSpPr/>
          <p:nvPr/>
        </p:nvSpPr>
        <p:spPr>
          <a:xfrm>
            <a:off x="3661321" y="5840909"/>
            <a:ext cx="3642420" cy="2224980"/>
          </a:xfrm>
          <a:prstGeom prst="rect">
            <a:avLst/>
          </a:prstGeom>
          <a:solidFill>
            <a:srgbClr val="F3F2F2"/>
          </a:solidFill>
          <a:ln/>
        </p:spPr>
        <p:txBody>
          <a:bodyPr/>
          <a:lstStyle/>
          <a:p>
            <a:endParaRPr lang="en-US"/>
          </a:p>
        </p:txBody>
      </p:sp>
      <p:sp>
        <p:nvSpPr>
          <p:cNvPr id="13" name="Text 11"/>
          <p:cNvSpPr/>
          <p:nvPr/>
        </p:nvSpPr>
        <p:spPr>
          <a:xfrm>
            <a:off x="4042321" y="6183809"/>
            <a:ext cx="3168461" cy="800100"/>
          </a:xfrm>
          <a:prstGeom prst="rect">
            <a:avLst/>
          </a:prstGeom>
          <a:noFill/>
          <a:ln/>
        </p:spPr>
        <p:txBody>
          <a:bodyPr wrap="square" lIns="25400" tIns="25400" rIns="25400" bIns="25400" rtlCol="0" anchor="t">
            <a:normAutofit lnSpcReduction="10000"/>
          </a:bodyPr>
          <a:lstStyle/>
          <a:p>
            <a:pPr marL="0" indent="0" algn="l">
              <a:lnSpc>
                <a:spcPct val="86957"/>
              </a:lnSpc>
              <a:buNone/>
            </a:pPr>
            <a:r>
              <a:rPr lang="en-US" sz="6000" b="1" kern="0" spc="-120" dirty="0">
                <a:solidFill>
                  <a:srgbClr val="201E1D"/>
                </a:solidFill>
                <a:latin typeface="Arial" pitchFamily="34" charset="0"/>
                <a:ea typeface="Arial" pitchFamily="34" charset="-122"/>
                <a:cs typeface="Arial" pitchFamily="34" charset="-120"/>
              </a:rPr>
              <a:t>≈2 bn</a:t>
            </a:r>
            <a:endParaRPr lang="en-US" sz="6000" dirty="0"/>
          </a:p>
        </p:txBody>
      </p:sp>
      <p:sp>
        <p:nvSpPr>
          <p:cNvPr id="14" name="Text 12"/>
          <p:cNvSpPr/>
          <p:nvPr/>
        </p:nvSpPr>
        <p:spPr>
          <a:xfrm>
            <a:off x="4042321" y="7079159"/>
            <a:ext cx="2966832" cy="681930"/>
          </a:xfrm>
          <a:prstGeom prst="rect">
            <a:avLst/>
          </a:prstGeom>
          <a:noFill/>
          <a:ln/>
        </p:spPr>
        <p:txBody>
          <a:bodyPr wrap="square" lIns="25400" tIns="25400" rIns="25400" bIns="25400" rtlCol="0" anchor="t">
            <a:normAutofit/>
          </a:bodyPr>
          <a:lstStyle/>
          <a:p>
            <a:pPr marL="0" indent="0" algn="l">
              <a:lnSpc>
                <a:spcPct val="109032"/>
              </a:lnSpc>
              <a:buNone/>
            </a:pPr>
            <a:r>
              <a:rPr lang="en-US" sz="1950" dirty="0">
                <a:solidFill>
                  <a:srgbClr val="201E1D"/>
                </a:solidFill>
                <a:latin typeface="Arial" pitchFamily="34" charset="0"/>
                <a:ea typeface="Arial" pitchFamily="34" charset="-122"/>
                <a:cs typeface="Arial" pitchFamily="34" charset="-120"/>
              </a:rPr>
              <a:t>ever handed out. Most of the rest destroyed.</a:t>
            </a:r>
            <a:endParaRPr lang="en-US" sz="1950" dirty="0"/>
          </a:p>
        </p:txBody>
      </p:sp>
      <p:sp>
        <p:nvSpPr>
          <p:cNvPr id="15" name="Shape 13"/>
          <p:cNvSpPr/>
          <p:nvPr/>
        </p:nvSpPr>
        <p:spPr>
          <a:xfrm>
            <a:off x="7322790" y="5840909"/>
            <a:ext cx="3642271" cy="2224980"/>
          </a:xfrm>
          <a:prstGeom prst="rect">
            <a:avLst/>
          </a:prstGeom>
          <a:solidFill>
            <a:srgbClr val="F3F2F2"/>
          </a:solidFill>
          <a:ln/>
        </p:spPr>
        <p:txBody>
          <a:bodyPr/>
          <a:lstStyle/>
          <a:p>
            <a:endParaRPr lang="en-US"/>
          </a:p>
        </p:txBody>
      </p:sp>
      <p:sp>
        <p:nvSpPr>
          <p:cNvPr id="16" name="Text 14"/>
          <p:cNvSpPr/>
          <p:nvPr/>
        </p:nvSpPr>
        <p:spPr>
          <a:xfrm>
            <a:off x="7703790" y="6183809"/>
            <a:ext cx="3168298" cy="800100"/>
          </a:xfrm>
          <a:prstGeom prst="rect">
            <a:avLst/>
          </a:prstGeom>
          <a:noFill/>
          <a:ln/>
        </p:spPr>
        <p:txBody>
          <a:bodyPr wrap="square" lIns="25400" tIns="25400" rIns="25400" bIns="25400" rtlCol="0" anchor="t">
            <a:normAutofit lnSpcReduction="10000"/>
          </a:bodyPr>
          <a:lstStyle/>
          <a:p>
            <a:pPr marL="0" indent="0" algn="l">
              <a:lnSpc>
                <a:spcPct val="86957"/>
              </a:lnSpc>
              <a:buNone/>
            </a:pPr>
            <a:r>
              <a:rPr lang="en-US" sz="6000" b="1" kern="0" spc="-120" dirty="0">
                <a:solidFill>
                  <a:srgbClr val="EC3013"/>
                </a:solidFill>
                <a:latin typeface="Arial" pitchFamily="34" charset="0"/>
                <a:ea typeface="Arial" pitchFamily="34" charset="-122"/>
                <a:cs typeface="Arial" pitchFamily="34" charset="-120"/>
              </a:rPr>
              <a:t>€2.3 bn</a:t>
            </a:r>
            <a:endParaRPr lang="en-US" sz="6000" dirty="0"/>
          </a:p>
        </p:txBody>
      </p:sp>
      <p:sp>
        <p:nvSpPr>
          <p:cNvPr id="17" name="Text 15"/>
          <p:cNvSpPr/>
          <p:nvPr/>
        </p:nvSpPr>
        <p:spPr>
          <a:xfrm>
            <a:off x="7703790" y="7079159"/>
            <a:ext cx="2966679" cy="681930"/>
          </a:xfrm>
          <a:prstGeom prst="rect">
            <a:avLst/>
          </a:prstGeom>
          <a:noFill/>
          <a:ln/>
        </p:spPr>
        <p:txBody>
          <a:bodyPr wrap="square" lIns="25400" tIns="25400" rIns="25400" bIns="25400" rtlCol="0" anchor="t">
            <a:normAutofit/>
          </a:bodyPr>
          <a:lstStyle/>
          <a:p>
            <a:pPr marL="0" indent="0" algn="l">
              <a:lnSpc>
                <a:spcPct val="109032"/>
              </a:lnSpc>
              <a:buNone/>
            </a:pPr>
            <a:r>
              <a:rPr lang="en-US" sz="1950" dirty="0">
                <a:solidFill>
                  <a:srgbClr val="201E1D"/>
                </a:solidFill>
                <a:latin typeface="Arial" pitchFamily="34" charset="0"/>
                <a:ea typeface="Arial" pitchFamily="34" charset="-122"/>
                <a:cs typeface="Arial" pitchFamily="34" charset="-120"/>
              </a:rPr>
              <a:t>still in court. Ruling due 15 Dec 2026.</a:t>
            </a:r>
            <a:endParaRPr lang="en-US" sz="1950" dirty="0"/>
          </a:p>
        </p:txBody>
      </p:sp>
      <p:sp>
        <p:nvSpPr>
          <p:cNvPr id="18" name="Shape 16"/>
          <p:cNvSpPr/>
          <p:nvPr/>
        </p:nvSpPr>
        <p:spPr>
          <a:xfrm>
            <a:off x="10984111" y="5840909"/>
            <a:ext cx="7303740" cy="2224980"/>
          </a:xfrm>
          <a:prstGeom prst="rect">
            <a:avLst/>
          </a:prstGeom>
          <a:solidFill>
            <a:srgbClr val="F3F2F2"/>
          </a:solidFill>
          <a:ln/>
        </p:spPr>
        <p:txBody>
          <a:bodyPr/>
          <a:lstStyle/>
          <a:p>
            <a:endParaRPr lang="en-US"/>
          </a:p>
        </p:txBody>
      </p:sp>
      <p:sp>
        <p:nvSpPr>
          <p:cNvPr id="19" name="Text 17"/>
          <p:cNvSpPr/>
          <p:nvPr/>
        </p:nvSpPr>
        <p:spPr>
          <a:xfrm>
            <a:off x="11517511" y="6183809"/>
            <a:ext cx="6860634" cy="381000"/>
          </a:xfrm>
          <a:prstGeom prst="rect">
            <a:avLst/>
          </a:prstGeom>
          <a:noFill/>
          <a:ln/>
        </p:spPr>
        <p:txBody>
          <a:bodyPr wrap="square" lIns="25400" tIns="25400" rIns="25400" bIns="25400" rtlCol="0" anchor="t">
            <a:normAutofit lnSpcReduction="10000"/>
          </a:bodyPr>
          <a:lstStyle/>
          <a:p>
            <a:pPr marL="0" indent="0" algn="l">
              <a:lnSpc>
                <a:spcPct val="105882"/>
              </a:lnSpc>
              <a:buNone/>
            </a:pPr>
            <a:r>
              <a:rPr lang="en-US" sz="2250" b="1" dirty="0">
                <a:solidFill>
                  <a:srgbClr val="201E1D"/>
                </a:solidFill>
                <a:latin typeface="Arial" pitchFamily="34" charset="0"/>
                <a:ea typeface="Arial" pitchFamily="34" charset="-122"/>
                <a:cs typeface="Arial" pitchFamily="34" charset="-120"/>
              </a:rPr>
              <a:t>Jens Spahn</a:t>
            </a:r>
            <a:endParaRPr lang="en-US" sz="2250" dirty="0"/>
          </a:p>
        </p:txBody>
      </p:sp>
      <p:sp>
        <p:nvSpPr>
          <p:cNvPr id="20" name="Text 18"/>
          <p:cNvSpPr/>
          <p:nvPr/>
        </p:nvSpPr>
        <p:spPr>
          <a:xfrm>
            <a:off x="11517511" y="6564809"/>
            <a:ext cx="6860634" cy="335161"/>
          </a:xfrm>
          <a:prstGeom prst="rect">
            <a:avLst/>
          </a:prstGeom>
          <a:noFill/>
          <a:ln/>
        </p:spPr>
        <p:txBody>
          <a:bodyPr wrap="square" lIns="25400" tIns="25400" rIns="25400" bIns="25400" rtlCol="0" anchor="t">
            <a:normAutofit lnSpcReduction="10000"/>
          </a:bodyPr>
          <a:lstStyle/>
          <a:p>
            <a:pPr marL="0" indent="0" algn="l">
              <a:lnSpc>
                <a:spcPct val="111429"/>
              </a:lnSpc>
              <a:buNone/>
            </a:pPr>
            <a:r>
              <a:rPr lang="en-US" sz="1800" dirty="0">
                <a:solidFill>
                  <a:srgbClr val="201E1D"/>
                </a:solidFill>
                <a:latin typeface="Arial" pitchFamily="34" charset="0"/>
                <a:ea typeface="Arial" pitchFamily="34" charset="-122"/>
                <a:cs typeface="Arial" pitchFamily="34" charset="-120"/>
              </a:rPr>
              <a:t>Federal Minister of Health, 2018–2021</a:t>
            </a:r>
            <a:endParaRPr lang="en-US" sz="1800" dirty="0"/>
          </a:p>
        </p:txBody>
      </p:sp>
      <p:sp>
        <p:nvSpPr>
          <p:cNvPr id="21" name="Text 19"/>
          <p:cNvSpPr/>
          <p:nvPr/>
        </p:nvSpPr>
        <p:spPr>
          <a:xfrm>
            <a:off x="11517511" y="7128867"/>
            <a:ext cx="6424048" cy="632222"/>
          </a:xfrm>
          <a:prstGeom prst="rect">
            <a:avLst/>
          </a:prstGeom>
          <a:noFill/>
          <a:ln/>
        </p:spPr>
        <p:txBody>
          <a:bodyPr wrap="square" lIns="25400" tIns="25400" rIns="25400" bIns="25400" rtlCol="0" anchor="t">
            <a:normAutofit lnSpcReduction="10000"/>
          </a:bodyPr>
          <a:lstStyle/>
          <a:p>
            <a:pPr marL="0" indent="0" algn="l">
              <a:lnSpc>
                <a:spcPct val="111429"/>
              </a:lnSpc>
              <a:buNone/>
            </a:pPr>
            <a:r>
              <a:rPr lang="en-US" sz="1800" dirty="0">
                <a:solidFill>
                  <a:srgbClr val="605D5D"/>
                </a:solidFill>
                <a:latin typeface="Arial" pitchFamily="34" charset="0"/>
                <a:ea typeface="Arial" pitchFamily="34" charset="-122"/>
                <a:cs typeface="Arial" pitchFamily="34" charset="-120"/>
              </a:rPr>
              <a:t>Sources: Tagesspiegel, ZDF, Handelsblatt (Sep 2026); Bund der Steuerzahler</a:t>
            </a:r>
            <a:endParaRPr lang="en-US" sz="1800" dirty="0"/>
          </a:p>
        </p:txBody>
      </p:sp>
      <p:sp>
        <p:nvSpPr>
          <p:cNvPr id="22" name="Shape 20"/>
          <p:cNvSpPr/>
          <p:nvPr/>
        </p:nvSpPr>
        <p:spPr>
          <a:xfrm>
            <a:off x="0" y="8084939"/>
            <a:ext cx="18287851" cy="2202061"/>
          </a:xfrm>
          <a:prstGeom prst="rect">
            <a:avLst/>
          </a:prstGeom>
          <a:solidFill>
            <a:srgbClr val="EC3013"/>
          </a:solidFill>
          <a:ln/>
        </p:spPr>
        <p:txBody>
          <a:bodyPr/>
          <a:lstStyle/>
          <a:p>
            <a:endParaRPr lang="en-US"/>
          </a:p>
        </p:txBody>
      </p:sp>
      <p:sp>
        <p:nvSpPr>
          <p:cNvPr id="23" name="Text 21"/>
          <p:cNvSpPr/>
          <p:nvPr/>
        </p:nvSpPr>
        <p:spPr>
          <a:xfrm>
            <a:off x="533400" y="8465939"/>
            <a:ext cx="17737683" cy="1478161"/>
          </a:xfrm>
          <a:prstGeom prst="rect">
            <a:avLst/>
          </a:prstGeom>
          <a:noFill/>
          <a:ln/>
        </p:spPr>
        <p:txBody>
          <a:bodyPr wrap="square" lIns="25400" tIns="25400" rIns="25400" bIns="25400" rtlCol="0" anchor="t">
            <a:normAutofit/>
          </a:bodyPr>
          <a:lstStyle/>
          <a:p>
            <a:pPr marL="0" indent="0" algn="l">
              <a:lnSpc>
                <a:spcPct val="92195"/>
              </a:lnSpc>
              <a:buNone/>
            </a:pPr>
            <a:r>
              <a:rPr lang="en-US" sz="4800" b="1" kern="0" spc="-108" dirty="0">
                <a:solidFill>
                  <a:srgbClr val="F3F2F2"/>
                </a:solidFill>
                <a:latin typeface="Arial" pitchFamily="34" charset="0"/>
                <a:ea typeface="Arial" pitchFamily="34" charset="-122"/>
                <a:cs typeface="Arial" pitchFamily="34" charset="-120"/>
              </a:rPr>
              <a:t>Nobody negotiated that price. </a:t>
            </a:r>
            <a:r>
              <a:rPr lang="en-US" sz="4800" b="1" kern="0" spc="-108" dirty="0" err="1">
                <a:solidFill>
                  <a:srgbClr val="F3F2F2"/>
                </a:solidFill>
                <a:latin typeface="Arial" pitchFamily="34" charset="0"/>
                <a:ea typeface="Arial" pitchFamily="34" charset="-122"/>
                <a:cs typeface="Arial" pitchFamily="34" charset="-120"/>
              </a:rPr>
              <a:t>ProcureCabana</a:t>
            </a:r>
            <a:r>
              <a:rPr lang="en-US" sz="4800" b="1" kern="0" spc="-108" dirty="0">
                <a:solidFill>
                  <a:srgbClr val="F3F2F2"/>
                </a:solidFill>
                <a:latin typeface="Arial" pitchFamily="34" charset="0"/>
                <a:ea typeface="Arial" pitchFamily="34" charset="-122"/>
                <a:cs typeface="Arial" pitchFamily="34" charset="-120"/>
              </a:rPr>
              <a:t> would have.</a:t>
            </a:r>
            <a:endParaRPr lang="en-US" sz="4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3F2F2"/>
        </a:solidFill>
        <a:effectLst/>
      </p:bgPr>
    </p:bg>
    <p:spTree>
      <p:nvGrpSpPr>
        <p:cNvPr id="1" name="">
          <a:extLst>
            <a:ext uri="{FF2B5EF4-FFF2-40B4-BE49-F238E27FC236}">
              <a16:creationId xmlns:a16="http://schemas.microsoft.com/office/drawing/2014/main" id="{ADACCDCC-A74A-12BC-1B52-47F097DFEFA7}"/>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1A61AA3B-1C9F-9DAE-1AC2-37F72309A310}"/>
              </a:ext>
            </a:extLst>
          </p:cNvPr>
          <p:cNvSpPr/>
          <p:nvPr/>
        </p:nvSpPr>
        <p:spPr>
          <a:xfrm>
            <a:off x="0" y="0"/>
            <a:ext cx="18288000" cy="10287000"/>
          </a:xfrm>
          <a:prstGeom prst="rect">
            <a:avLst/>
          </a:prstGeom>
          <a:solidFill>
            <a:srgbClr val="211E1E">
              <a:alpha val="40000"/>
            </a:srgbClr>
          </a:solidFill>
          <a:ln/>
        </p:spPr>
        <p:txBody>
          <a:bodyPr/>
          <a:lstStyle/>
          <a:p>
            <a:endParaRPr lang="en-US" dirty="0"/>
          </a:p>
        </p:txBody>
      </p:sp>
      <p:sp>
        <p:nvSpPr>
          <p:cNvPr id="22" name="Shape 20">
            <a:extLst>
              <a:ext uri="{FF2B5EF4-FFF2-40B4-BE49-F238E27FC236}">
                <a16:creationId xmlns:a16="http://schemas.microsoft.com/office/drawing/2014/main" id="{BD13FF74-108F-C6CE-D097-381ED90BDF9F}"/>
              </a:ext>
            </a:extLst>
          </p:cNvPr>
          <p:cNvSpPr/>
          <p:nvPr/>
        </p:nvSpPr>
        <p:spPr>
          <a:xfrm>
            <a:off x="0" y="1"/>
            <a:ext cx="18287851" cy="10287000"/>
          </a:xfrm>
          <a:prstGeom prst="rect">
            <a:avLst/>
          </a:prstGeom>
          <a:solidFill>
            <a:srgbClr val="EC3013"/>
          </a:solidFill>
          <a:ln/>
        </p:spPr>
        <p:txBody>
          <a:bodyPr/>
          <a:lstStyle/>
          <a:p>
            <a:endParaRPr lang="en-US"/>
          </a:p>
        </p:txBody>
      </p:sp>
      <p:sp>
        <p:nvSpPr>
          <p:cNvPr id="23" name="Text 21">
            <a:extLst>
              <a:ext uri="{FF2B5EF4-FFF2-40B4-BE49-F238E27FC236}">
                <a16:creationId xmlns:a16="http://schemas.microsoft.com/office/drawing/2014/main" id="{DB0EAE68-4AAC-E42D-7D6A-7F1341B21146}"/>
              </a:ext>
            </a:extLst>
          </p:cNvPr>
          <p:cNvSpPr/>
          <p:nvPr/>
        </p:nvSpPr>
        <p:spPr>
          <a:xfrm>
            <a:off x="275083" y="2899469"/>
            <a:ext cx="17737683" cy="4488061"/>
          </a:xfrm>
          <a:prstGeom prst="rect">
            <a:avLst/>
          </a:prstGeom>
          <a:noFill/>
          <a:ln/>
        </p:spPr>
        <p:txBody>
          <a:bodyPr wrap="square" lIns="25400" tIns="25400" rIns="25400" bIns="25400" rtlCol="0" anchor="t">
            <a:normAutofit/>
          </a:bodyPr>
          <a:lstStyle/>
          <a:p>
            <a:pPr marL="0" indent="0" algn="ctr">
              <a:lnSpc>
                <a:spcPct val="92195"/>
              </a:lnSpc>
              <a:buNone/>
            </a:pPr>
            <a:r>
              <a:rPr lang="en-US" sz="28700" b="1" kern="0" spc="-108" dirty="0">
                <a:solidFill>
                  <a:srgbClr val="F3F2F2"/>
                </a:solidFill>
                <a:latin typeface="Arial" pitchFamily="34" charset="0"/>
                <a:ea typeface="Arial" pitchFamily="34" charset="-122"/>
                <a:cs typeface="Arial" pitchFamily="34" charset="-120"/>
              </a:rPr>
              <a:t>Demo</a:t>
            </a:r>
            <a:endParaRPr lang="en-US" sz="28700" dirty="0"/>
          </a:p>
        </p:txBody>
      </p:sp>
    </p:spTree>
    <p:extLst>
      <p:ext uri="{BB962C8B-B14F-4D97-AF65-F5344CB8AC3E}">
        <p14:creationId xmlns:p14="http://schemas.microsoft.com/office/powerpoint/2010/main" val="20180796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bg>
      <p:bgPr>
        <a:solidFill>
          <a:srgbClr val="F3F2F2"/>
        </a:solidFill>
        <a:effectLst/>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211E1E">
              <a:alpha val="40000"/>
            </a:srgbClr>
          </a:solidFill>
          <a:ln/>
        </p:spPr>
        <p:txBody>
          <a:bodyPr/>
          <a:lstStyle/>
          <a:p>
            <a:endParaRPr lang="en-US"/>
          </a:p>
        </p:txBody>
      </p:sp>
      <p:sp>
        <p:nvSpPr>
          <p:cNvPr id="3" name="Shape 1"/>
          <p:cNvSpPr/>
          <p:nvPr/>
        </p:nvSpPr>
        <p:spPr>
          <a:xfrm>
            <a:off x="0" y="0"/>
            <a:ext cx="7303740" cy="5829300"/>
          </a:xfrm>
          <a:prstGeom prst="rect">
            <a:avLst/>
          </a:prstGeom>
          <a:solidFill>
            <a:srgbClr val="EC3013"/>
          </a:solidFill>
          <a:ln/>
        </p:spPr>
        <p:txBody>
          <a:bodyPr/>
          <a:lstStyle/>
          <a:p>
            <a:endParaRPr lang="en-US"/>
          </a:p>
        </p:txBody>
      </p:sp>
      <p:sp>
        <p:nvSpPr>
          <p:cNvPr id="4" name="Text 2"/>
          <p:cNvSpPr/>
          <p:nvPr/>
        </p:nvSpPr>
        <p:spPr>
          <a:xfrm>
            <a:off x="533400" y="495300"/>
            <a:ext cx="3368680" cy="495300"/>
          </a:xfrm>
          <a:prstGeom prst="rect">
            <a:avLst/>
          </a:prstGeom>
          <a:noFill/>
          <a:ln/>
        </p:spPr>
        <p:txBody>
          <a:bodyPr wrap="square" lIns="25400" tIns="25400" rIns="25400" bIns="25400" rtlCol="0" anchor="t">
            <a:normAutofit lnSpcReduction="10000"/>
          </a:bodyPr>
          <a:lstStyle/>
          <a:p>
            <a:pPr marL="0" indent="0" algn="l">
              <a:lnSpc>
                <a:spcPct val="87273"/>
              </a:lnSpc>
              <a:buNone/>
            </a:pPr>
            <a:r>
              <a:rPr lang="en-US" sz="3600" b="1" kern="0" spc="-36" dirty="0">
                <a:solidFill>
                  <a:srgbClr val="F3F2F2"/>
                </a:solidFill>
                <a:latin typeface="Arial" pitchFamily="34" charset="0"/>
                <a:ea typeface="Arial" pitchFamily="34" charset="-122"/>
                <a:cs typeface="Arial" pitchFamily="34" charset="-120"/>
              </a:rPr>
              <a:t>Codacabana</a:t>
            </a:r>
            <a:endParaRPr lang="en-US" sz="3600" dirty="0"/>
          </a:p>
        </p:txBody>
      </p:sp>
      <p:sp>
        <p:nvSpPr>
          <p:cNvPr id="5" name="Text 3"/>
          <p:cNvSpPr/>
          <p:nvPr/>
        </p:nvSpPr>
        <p:spPr>
          <a:xfrm>
            <a:off x="533400" y="1009650"/>
            <a:ext cx="3368680" cy="358080"/>
          </a:xfrm>
          <a:prstGeom prst="rect">
            <a:avLst/>
          </a:prstGeom>
          <a:noFill/>
          <a:ln/>
        </p:spPr>
        <p:txBody>
          <a:bodyPr wrap="square" lIns="25400" tIns="25400" rIns="25400" bIns="25400" rtlCol="0" anchor="t">
            <a:normAutofit lnSpcReduction="10000"/>
          </a:bodyPr>
          <a:lstStyle/>
          <a:p>
            <a:pPr marL="0" indent="0" algn="l">
              <a:lnSpc>
                <a:spcPct val="105000"/>
              </a:lnSpc>
              <a:buNone/>
            </a:pPr>
            <a:r>
              <a:rPr lang="en-US" sz="2100" b="1" dirty="0">
                <a:solidFill>
                  <a:srgbClr val="F3F2F2"/>
                </a:solidFill>
                <a:latin typeface="Arial" pitchFamily="34" charset="0"/>
                <a:ea typeface="Arial" pitchFamily="34" charset="-122"/>
                <a:cs typeface="Arial" pitchFamily="34" charset="-120"/>
              </a:rPr>
              <a:t>Tacto Negotiation Arena</a:t>
            </a:r>
            <a:endParaRPr lang="en-US" sz="2100" dirty="0"/>
          </a:p>
        </p:txBody>
      </p:sp>
      <p:sp>
        <p:nvSpPr>
          <p:cNvPr id="6" name="Text 4"/>
          <p:cNvSpPr/>
          <p:nvPr/>
        </p:nvSpPr>
        <p:spPr>
          <a:xfrm>
            <a:off x="533400" y="2080171"/>
            <a:ext cx="6278880" cy="1409700"/>
          </a:xfrm>
          <a:prstGeom prst="rect">
            <a:avLst/>
          </a:prstGeom>
          <a:noFill/>
          <a:ln/>
        </p:spPr>
        <p:txBody>
          <a:bodyPr wrap="square" lIns="25400" tIns="25400" rIns="25400" bIns="25400" rtlCol="0" anchor="t">
            <a:normAutofit lnSpcReduction="10000"/>
          </a:bodyPr>
          <a:lstStyle/>
          <a:p>
            <a:pPr marL="0" indent="0" algn="l">
              <a:lnSpc>
                <a:spcPct val="106667"/>
              </a:lnSpc>
              <a:buNone/>
            </a:pPr>
            <a:r>
              <a:rPr lang="en-US" sz="3000" b="1" dirty="0">
                <a:solidFill>
                  <a:srgbClr val="F3F2F2"/>
                </a:solidFill>
                <a:latin typeface="Arial" pitchFamily="34" charset="0"/>
                <a:ea typeface="Arial" pitchFamily="34" charset="-122"/>
                <a:cs typeface="Arial" pitchFamily="34" charset="-120"/>
              </a:rPr>
              <a:t>Our agent buys parts by e-mail. It negotiates with supplier bots and closes the deal on its own.</a:t>
            </a:r>
            <a:endParaRPr lang="en-US" sz="3000" dirty="0"/>
          </a:p>
        </p:txBody>
      </p:sp>
      <p:sp>
        <p:nvSpPr>
          <p:cNvPr id="7" name="Text 5"/>
          <p:cNvSpPr/>
          <p:nvPr/>
        </p:nvSpPr>
        <p:spPr>
          <a:xfrm>
            <a:off x="533400" y="4202311"/>
            <a:ext cx="6860634" cy="1169640"/>
          </a:xfrm>
          <a:prstGeom prst="rect">
            <a:avLst/>
          </a:prstGeom>
          <a:noFill/>
          <a:ln/>
        </p:spPr>
        <p:txBody>
          <a:bodyPr wrap="square" lIns="25400" tIns="25400" rIns="25400" bIns="25400" rtlCol="0" anchor="t">
            <a:normAutofit lnSpcReduction="10000"/>
          </a:bodyPr>
          <a:lstStyle/>
          <a:p>
            <a:pPr marL="0" indent="0" algn="l">
              <a:lnSpc>
                <a:spcPct val="78675"/>
              </a:lnSpc>
              <a:buNone/>
            </a:pPr>
            <a:r>
              <a:rPr lang="en-US" sz="9900" b="1" kern="0" spc="-297" dirty="0">
                <a:solidFill>
                  <a:srgbClr val="F3F2F2"/>
                </a:solidFill>
                <a:latin typeface="Arial" pitchFamily="34" charset="0"/>
                <a:ea typeface="Arial" pitchFamily="34" charset="-122"/>
                <a:cs typeface="Arial" pitchFamily="34" charset="-120"/>
              </a:rPr>
              <a:t>Questions</a:t>
            </a:r>
            <a:endParaRPr lang="en-US" sz="9900" dirty="0"/>
          </a:p>
        </p:txBody>
      </p:sp>
      <p:sp>
        <p:nvSpPr>
          <p:cNvPr id="8" name="Shape 6"/>
          <p:cNvSpPr/>
          <p:nvPr/>
        </p:nvSpPr>
        <p:spPr>
          <a:xfrm>
            <a:off x="7322790" y="19050"/>
            <a:ext cx="10965061" cy="5829300"/>
          </a:xfrm>
          <a:prstGeom prst="rect">
            <a:avLst/>
          </a:prstGeom>
          <a:solidFill>
            <a:srgbClr val="EAE9E9"/>
          </a:solidFill>
          <a:ln/>
        </p:spPr>
        <p:txBody>
          <a:bodyPr/>
          <a:lstStyle/>
          <a:p>
            <a:endParaRPr lang="en-US"/>
          </a:p>
        </p:txBody>
      </p:sp>
      <p:sp>
        <p:nvSpPr>
          <p:cNvPr id="9" name="Shape 7"/>
          <p:cNvSpPr/>
          <p:nvPr/>
        </p:nvSpPr>
        <p:spPr>
          <a:xfrm>
            <a:off x="0" y="5848350"/>
            <a:ext cx="7303740" cy="4438650"/>
          </a:xfrm>
          <a:prstGeom prst="rect">
            <a:avLst/>
          </a:prstGeom>
          <a:solidFill>
            <a:srgbClr val="F3F2F2"/>
          </a:solidFill>
          <a:ln/>
        </p:spPr>
        <p:txBody>
          <a:bodyPr/>
          <a:lstStyle/>
          <a:p>
            <a:endParaRPr lang="en-US"/>
          </a:p>
        </p:txBody>
      </p:sp>
      <p:sp>
        <p:nvSpPr>
          <p:cNvPr id="10" name="Text 8"/>
          <p:cNvSpPr/>
          <p:nvPr/>
        </p:nvSpPr>
        <p:spPr>
          <a:xfrm>
            <a:off x="533400" y="6305550"/>
            <a:ext cx="6860634" cy="335161"/>
          </a:xfrm>
          <a:prstGeom prst="rect">
            <a:avLst/>
          </a:prstGeom>
          <a:noFill/>
          <a:ln/>
        </p:spPr>
        <p:txBody>
          <a:bodyPr wrap="square" lIns="25400" tIns="25400" rIns="25400" bIns="25400" rtlCol="0" anchor="t">
            <a:normAutofit lnSpcReduction="10000"/>
          </a:bodyPr>
          <a:lstStyle/>
          <a:p>
            <a:pPr marL="0" indent="0" algn="l">
              <a:lnSpc>
                <a:spcPct val="100645"/>
              </a:lnSpc>
              <a:buNone/>
            </a:pPr>
            <a:r>
              <a:rPr lang="en-US" sz="1950" b="1" kern="0" spc="156" dirty="0">
                <a:solidFill>
                  <a:srgbClr val="201E1D"/>
                </a:solidFill>
                <a:latin typeface="Arial" pitchFamily="34" charset="0"/>
                <a:ea typeface="Arial" pitchFamily="34" charset="-122"/>
                <a:cs typeface="Arial" pitchFamily="34" charset="-120"/>
              </a:rPr>
              <a:t>AGENTS USED</a:t>
            </a:r>
            <a:endParaRPr lang="en-US" sz="1950" dirty="0"/>
          </a:p>
        </p:txBody>
      </p:sp>
      <p:sp>
        <p:nvSpPr>
          <p:cNvPr id="11" name="Text 9"/>
          <p:cNvSpPr/>
          <p:nvPr/>
        </p:nvSpPr>
        <p:spPr>
          <a:xfrm>
            <a:off x="533400" y="8048625"/>
            <a:ext cx="6860634" cy="1819275"/>
          </a:xfrm>
          <a:prstGeom prst="rect">
            <a:avLst/>
          </a:prstGeom>
          <a:noFill/>
          <a:ln/>
        </p:spPr>
        <p:txBody>
          <a:bodyPr wrap="square" lIns="25400" tIns="25400" rIns="25400" bIns="25400" rtlCol="0" anchor="t">
            <a:normAutofit lnSpcReduction="10000"/>
          </a:bodyPr>
          <a:lstStyle/>
          <a:p>
            <a:pPr marL="0" indent="0" algn="l">
              <a:lnSpc>
                <a:spcPct val="73913"/>
              </a:lnSpc>
              <a:buNone/>
            </a:pPr>
            <a:r>
              <a:rPr lang="en-US" sz="16500" b="1" kern="0" spc="-660" dirty="0">
                <a:solidFill>
                  <a:srgbClr val="201E1D"/>
                </a:solidFill>
                <a:latin typeface="Arial" pitchFamily="34" charset="0"/>
                <a:ea typeface="Arial" pitchFamily="34" charset="-122"/>
                <a:cs typeface="Arial" pitchFamily="34" charset="-120"/>
              </a:rPr>
              <a:t>10</a:t>
            </a:r>
            <a:endParaRPr lang="en-US" sz="16500" dirty="0"/>
          </a:p>
        </p:txBody>
      </p:sp>
      <p:sp>
        <p:nvSpPr>
          <p:cNvPr id="12" name="Shape 10"/>
          <p:cNvSpPr/>
          <p:nvPr/>
        </p:nvSpPr>
        <p:spPr>
          <a:xfrm>
            <a:off x="7322790" y="5848350"/>
            <a:ext cx="10965061" cy="4438650"/>
          </a:xfrm>
          <a:prstGeom prst="rect">
            <a:avLst/>
          </a:prstGeom>
          <a:solidFill>
            <a:srgbClr val="F3F2F2"/>
          </a:solidFill>
          <a:ln/>
        </p:spPr>
        <p:txBody>
          <a:bodyPr/>
          <a:lstStyle/>
          <a:p>
            <a:endParaRPr lang="en-US"/>
          </a:p>
        </p:txBody>
      </p:sp>
      <p:sp>
        <p:nvSpPr>
          <p:cNvPr id="13" name="Text 11"/>
          <p:cNvSpPr/>
          <p:nvPr/>
        </p:nvSpPr>
        <p:spPr>
          <a:xfrm>
            <a:off x="7856190" y="6305550"/>
            <a:ext cx="10888087" cy="335161"/>
          </a:xfrm>
          <a:prstGeom prst="rect">
            <a:avLst/>
          </a:prstGeom>
          <a:noFill/>
          <a:ln/>
        </p:spPr>
        <p:txBody>
          <a:bodyPr wrap="square" lIns="25400" tIns="25400" rIns="25400" bIns="25400" rtlCol="0" anchor="t">
            <a:normAutofit lnSpcReduction="10000"/>
          </a:bodyPr>
          <a:lstStyle/>
          <a:p>
            <a:pPr marL="0" indent="0" algn="l">
              <a:lnSpc>
                <a:spcPct val="100645"/>
              </a:lnSpc>
              <a:buNone/>
            </a:pPr>
            <a:r>
              <a:rPr lang="en-US" sz="1950" b="1" kern="0" spc="156" dirty="0">
                <a:solidFill>
                  <a:srgbClr val="201E1D"/>
                </a:solidFill>
                <a:latin typeface="Arial" pitchFamily="34" charset="0"/>
                <a:ea typeface="Arial" pitchFamily="34" charset="-122"/>
                <a:cs typeface="Arial" pitchFamily="34" charset="-120"/>
              </a:rPr>
              <a:t>SAVED VS. OPENING QUOTES · 10 PRACTICE CASES</a:t>
            </a:r>
            <a:endParaRPr lang="en-US" sz="1950" dirty="0"/>
          </a:p>
        </p:txBody>
      </p:sp>
      <p:sp>
        <p:nvSpPr>
          <p:cNvPr id="14" name="Text 12"/>
          <p:cNvSpPr/>
          <p:nvPr/>
        </p:nvSpPr>
        <p:spPr>
          <a:xfrm>
            <a:off x="7856190" y="8048625"/>
            <a:ext cx="10888087" cy="1819275"/>
          </a:xfrm>
          <a:prstGeom prst="rect">
            <a:avLst/>
          </a:prstGeom>
          <a:noFill/>
          <a:ln/>
        </p:spPr>
        <p:txBody>
          <a:bodyPr wrap="square" lIns="25400" tIns="25400" rIns="25400" bIns="25400" rtlCol="0" anchor="t">
            <a:normAutofit lnSpcReduction="10000"/>
          </a:bodyPr>
          <a:lstStyle/>
          <a:p>
            <a:pPr marL="0" indent="0" algn="l">
              <a:lnSpc>
                <a:spcPct val="73913"/>
              </a:lnSpc>
              <a:buNone/>
            </a:pPr>
            <a:r>
              <a:rPr lang="en-US" sz="16500" b="1" kern="0" spc="-660" dirty="0">
                <a:solidFill>
                  <a:srgbClr val="EC3013"/>
                </a:solidFill>
                <a:latin typeface="Arial" pitchFamily="34" charset="0"/>
                <a:ea typeface="Arial" pitchFamily="34" charset="-122"/>
                <a:cs typeface="Arial" pitchFamily="34" charset="-120"/>
              </a:rPr>
              <a:t>€1.17M</a:t>
            </a:r>
            <a:endParaRPr lang="en-US" sz="16500" dirty="0"/>
          </a:p>
        </p:txBody>
      </p:sp>
      <p:pic>
        <p:nvPicPr>
          <p:cNvPr id="15" name="Picture 14">
            <a:extLst>
              <a:ext uri="{FF2B5EF4-FFF2-40B4-BE49-F238E27FC236}">
                <a16:creationId xmlns:a16="http://schemas.microsoft.com/office/drawing/2014/main" id="{C8D96A3C-138C-C127-537C-1BE3416E9A69}"/>
              </a:ext>
              <a:ext uri="{C183D7F6-B498-43B3-948B-1728B52AA6E4}">
                <adec:decorative xmlns:adec="http://schemas.microsoft.com/office/drawing/2017/decorative" val="1"/>
              </a:ext>
            </a:extLst>
          </p:cNvPr>
          <p:cNvPicPr>
            <a:picLocks noChangeAspect="1"/>
          </p:cNvPicPr>
          <p:nvPr/>
        </p:nvPicPr>
        <p:blipFill>
          <a:blip r:embed="rId3"/>
          <a:srcRect t="8142" b="12004"/>
          <a:stretch>
            <a:fillRect/>
          </a:stretch>
        </p:blipFill>
        <p:spPr>
          <a:xfrm>
            <a:off x="7345680" y="0"/>
            <a:ext cx="10960645" cy="58293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TotalTime>
  <Words>291</Words>
  <Application>Microsoft Macintosh PowerPoint</Application>
  <PresentationFormat>Custom</PresentationFormat>
  <Paragraphs>28</Paragraphs>
  <Slides>3</Slides>
  <Notes>3</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3</vt:i4>
      </vt:variant>
    </vt:vector>
  </HeadingPairs>
  <TitlesOfParts>
    <vt:vector size="5" baseType="lpstr">
      <vt:lpstr>Arial</vt:lpstr>
      <vt:lpstr>Office Theme</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Steffen Grabert</cp:lastModifiedBy>
  <cp:revision>3</cp:revision>
  <dcterms:created xsi:type="dcterms:W3CDTF">2026-10-11T08:24:18Z</dcterms:created>
  <dcterms:modified xsi:type="dcterms:W3CDTF">2026-10-11T08:30:37Z</dcterms:modified>
</cp:coreProperties>
</file>